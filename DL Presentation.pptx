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23"/>
  </p:notesMasterIdLst>
  <p:handoutMasterIdLst>
    <p:handoutMasterId r:id="rId24"/>
  </p:handoutMasterIdLst>
  <p:sldIdLst>
    <p:sldId id="276" r:id="rId5"/>
    <p:sldId id="257" r:id="rId6"/>
    <p:sldId id="300" r:id="rId7"/>
    <p:sldId id="299" r:id="rId8"/>
    <p:sldId id="301" r:id="rId9"/>
    <p:sldId id="302" r:id="rId10"/>
    <p:sldId id="303" r:id="rId11"/>
    <p:sldId id="306" r:id="rId12"/>
    <p:sldId id="304" r:id="rId13"/>
    <p:sldId id="307" r:id="rId14"/>
    <p:sldId id="308" r:id="rId15"/>
    <p:sldId id="309" r:id="rId16"/>
    <p:sldId id="310" r:id="rId17"/>
    <p:sldId id="311" r:id="rId18"/>
    <p:sldId id="281" r:id="rId19"/>
    <p:sldId id="313" r:id="rId20"/>
    <p:sldId id="314" r:id="rId21"/>
    <p:sldId id="29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64041F-113F-40FF-B7C5-C3A387CCC3E9}" v="1516" dt="2025-12-03T13:34:21.607"/>
    <p1510:client id="{7119C954-810F-F698-5936-BFCB7C30EB16}" v="6" dt="2025-12-04T05:45:53.184"/>
    <p1510:client id="{A62641FB-00FC-44AB-849C-541C8C04382B}" v="291" dt="2025-12-03T10:34:53.644"/>
    <p1510:client id="{E0F5B07F-EF6E-E302-5064-071F696A1D01}" v="6" dt="2025-12-04T00:41:54.125"/>
  </p1510:revLst>
</p1510:revInfo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6327" autoAdjust="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12/30/2025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690542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1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8552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349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8031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6364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173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70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134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4246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6437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377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7841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851" y="2165174"/>
            <a:ext cx="6118224" cy="155448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7" name="Picture Placeholder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4194521"/>
            <a:ext cx="1481845" cy="787628"/>
            <a:chOff x="4987925" y="2840038"/>
            <a:chExt cx="2216150" cy="11779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912713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2400" i="1"/>
            </a:lvl1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368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64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4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4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664443" y="2484712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5750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418C0F6-1F2A-74E4-A6C4-914FE336632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59649" y="2493040"/>
            <a:ext cx="4360507" cy="36054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 i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marL="11430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ED942-AF2B-12D4-2ED4-570ACFD0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8899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indent="-283464"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791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C2262EB2-92F3-45D5-977D-A254F9DC4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4750" y="548640"/>
            <a:ext cx="61200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08B7B76C-AD95-41C0-859E-9A612EE3EB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8703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F4E51F-526D-47C7-B091-D47773C1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4FE061B-0356-4C6F-A2CA-12D48BE34A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4750" y="2759076"/>
            <a:ext cx="6121400" cy="30098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C9AB8836-3239-49B5-AB6F-4AF85F1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20XX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77EAD6AC-E509-49A1-8E38-1CABD458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689B03B-F230-4530-8C09-EFB8172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449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745F42-F11E-4295-BA16-71120E66B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80706"/>
            <a:ext cx="12192000" cy="3877293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36F7FC-6006-4472-BC70-30C283ABC1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988" y="540000"/>
            <a:ext cx="3884962" cy="2011680"/>
          </a:xfrm>
        </p:spPr>
        <p:txBody>
          <a:bodyPr anchor="ctr" anchorCtr="0"/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65A73B-104E-43C7-BBEC-C2B3D52E1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54584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E0F1ED-567A-464B-A7AB-53B58F510B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3552" y="540000"/>
            <a:ext cx="6107460" cy="201168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>
              <a:defRPr sz="1800"/>
            </a:lvl2pPr>
            <a:lvl3pPr marL="720000" indent="0">
              <a:buNone/>
              <a:defRPr sz="1800"/>
            </a:lvl3pPr>
            <a:lvl4pPr>
              <a:defRPr sz="1800"/>
            </a:lvl4pPr>
            <a:lvl5pPr marL="14400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BDB4AB8-A251-1D19-89FE-D1E389DC72CE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40988" y="3487738"/>
            <a:ext cx="11110023" cy="2486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23808ED-A697-419E-B2B9-925BC804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82CBC00E-8DBE-41F7-B5EC-A273F718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C8BA04E-DB40-4D07-9B73-37122A90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74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80A73D-6706-8DB1-BAA5-9EC91EF6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1677" y="548640"/>
            <a:ext cx="4663440" cy="137160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A2E018F-B83F-5D9E-94F4-2B1C285CED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" y="548640"/>
            <a:ext cx="5575300" cy="5656016"/>
          </a:xfrm>
        </p:spPr>
        <p:txBody>
          <a:bodyPr>
            <a:noAutofit/>
          </a:bodyPr>
          <a:lstStyle>
            <a:lvl1pPr marL="283464" indent="-283464">
              <a:spcBef>
                <a:spcPts val="500"/>
              </a:spcBef>
              <a:defRPr sz="1800"/>
            </a:lvl1pPr>
            <a:lvl2pPr marL="283464">
              <a:spcBef>
                <a:spcPts val="500"/>
              </a:spcBef>
              <a:defRPr sz="1800"/>
            </a:lvl2pPr>
            <a:lvl3pPr marL="685800" indent="-283464">
              <a:spcBef>
                <a:spcPts val="500"/>
              </a:spcBef>
              <a:defRPr sz="1800"/>
            </a:lvl3pPr>
            <a:lvl4pPr marL="685800">
              <a:spcBef>
                <a:spcPts val="500"/>
              </a:spcBef>
              <a:defRPr sz="1800"/>
            </a:lvl4pPr>
            <a:lvl5pPr marL="1143000" indent="-283464">
              <a:spcBef>
                <a:spcPts val="5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266A202-7CFD-8B3B-C33C-D85F06445EC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91676" y="2751236"/>
            <a:ext cx="4663440" cy="3453420"/>
          </a:xfrm>
        </p:spPr>
        <p:txBody>
          <a:bodyPr lIns="137160">
            <a:noAutofit/>
          </a:bodyPr>
          <a:lstStyle>
            <a:lvl1pPr marL="34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FDB4E-BF6D-A408-5BC2-566CFAEC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673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995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5ABF0D4-6E3E-4B6A-9402-0B1819B2E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8640"/>
            <a:ext cx="10058400" cy="1097280"/>
          </a:xfr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AB4820-09C0-4A6A-9DEF-D377D04A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828800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6B5DAE-9335-B3AD-445C-296C2E06A2A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82650" y="2441575"/>
            <a:ext cx="10058400" cy="3450265"/>
          </a:xfrm>
        </p:spPr>
        <p:txBody>
          <a:bodyPr/>
          <a:lstStyle>
            <a:lvl1pPr marL="283464" indent="-283464">
              <a:defRPr/>
            </a:lvl1pPr>
            <a:lvl2pPr marL="283464" indent="0">
              <a:defRPr/>
            </a:lvl2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5B58DA2-1433-4624-A301-D9496CB2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28E4701-5991-4858-AE71-47400E64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C430A52-01FF-4B61-8B7A-C60A8D06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487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2585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523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keras.io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75AAA1-E55B-D658-D750-607551EC9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6487" y="133146"/>
            <a:ext cx="7797799" cy="1474336"/>
          </a:xfrm>
        </p:spPr>
        <p:txBody>
          <a:bodyPr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Age, Gender, and Emotion Detection using Deep Learning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72C02-207C-6239-A1FE-7B5051C7D910}"/>
              </a:ext>
            </a:extLst>
          </p:cNvPr>
          <p:cNvSpPr txBox="1"/>
          <p:nvPr/>
        </p:nvSpPr>
        <p:spPr>
          <a:xfrm>
            <a:off x="442451" y="2888225"/>
            <a:ext cx="4289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Domain:</a:t>
            </a:r>
            <a:r>
              <a:rPr lang="en-US" dirty="0">
                <a:ea typeface="+mn-lt"/>
                <a:cs typeface="+mn-lt"/>
              </a:rPr>
              <a:t> Deep Learning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56C65-4A31-01FD-E0EB-66FD73A5493A}"/>
              </a:ext>
            </a:extLst>
          </p:cNvPr>
          <p:cNvSpPr txBox="1"/>
          <p:nvPr/>
        </p:nvSpPr>
        <p:spPr>
          <a:xfrm>
            <a:off x="442451" y="5039032"/>
            <a:ext cx="410496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Group Members:-</a:t>
            </a:r>
            <a:endParaRPr lang="en-US" b="1" dirty="0"/>
          </a:p>
          <a:p>
            <a:r>
              <a:rPr lang="en-US" dirty="0"/>
              <a:t>B. Praneeth AP22110010049</a:t>
            </a:r>
          </a:p>
          <a:p>
            <a:r>
              <a:rPr lang="en-US" dirty="0"/>
              <a:t>P. Venkata Sri Nag AP22110010050</a:t>
            </a:r>
          </a:p>
          <a:p>
            <a:r>
              <a:rPr lang="en-US" dirty="0"/>
              <a:t>V. Mohan Balu AP22110010057</a:t>
            </a:r>
          </a:p>
          <a:p>
            <a:r>
              <a:rPr lang="en-US" dirty="0"/>
              <a:t>M. Srihari AP22110010368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9CC55-F7A3-8777-D3D1-19DC628D5A82}"/>
              </a:ext>
            </a:extLst>
          </p:cNvPr>
          <p:cNvSpPr txBox="1"/>
          <p:nvPr/>
        </p:nvSpPr>
        <p:spPr>
          <a:xfrm>
            <a:off x="442451" y="4117258"/>
            <a:ext cx="36993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Guide:-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Chindukuri</a:t>
            </a:r>
            <a:r>
              <a:rPr lang="en-US" dirty="0">
                <a:ea typeface="+mn-lt"/>
                <a:cs typeface="+mn-lt"/>
              </a:rPr>
              <a:t> Mallikarjuna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67" y="116299"/>
            <a:ext cx="5508017" cy="598792"/>
          </a:xfrm>
        </p:spPr>
        <p:txBody>
          <a:bodyPr/>
          <a:lstStyle/>
          <a:p>
            <a:r>
              <a:rPr lang="en-US" b="1" dirty="0">
                <a:ea typeface="+mj-lt"/>
                <a:cs typeface="+mj-lt"/>
              </a:rPr>
              <a:t>Contents</a:t>
            </a:r>
            <a:endParaRPr lang="en-US" b="1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553" y="2256481"/>
            <a:ext cx="5486399" cy="4604154"/>
          </a:xfrm>
        </p:spPr>
        <p:txBody>
          <a:bodyPr/>
          <a:lstStyle/>
          <a:p>
            <a:pPr marL="359410" indent="-359410">
              <a:buClr>
                <a:srgbClr val="EF8C6A"/>
              </a:buClr>
            </a:pP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Abstract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Literature Study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Research Gaps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Proposed Methodology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Datasets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Evaluation Metrics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Experimental Results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Conclusion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7264D-600C-38A3-1971-E8452085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6309" y="514046"/>
            <a:ext cx="2903842" cy="67725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Abstract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8D0572-5413-85D1-A221-CB7AAFC05741}"/>
              </a:ext>
            </a:extLst>
          </p:cNvPr>
          <p:cNvSpPr txBox="1"/>
          <p:nvPr/>
        </p:nvSpPr>
        <p:spPr>
          <a:xfrm>
            <a:off x="420285" y="2106650"/>
            <a:ext cx="1102966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Objective:</a:t>
            </a:r>
            <a:r>
              <a:rPr lang="en-US" dirty="0">
                <a:ea typeface="+mn-lt"/>
                <a:cs typeface="+mn-lt"/>
              </a:rPr>
              <a:t> To develop a comprehensive Deep Learning system capable of detecting human faces in real-time and predicting three distinct attributes: </a:t>
            </a:r>
            <a:r>
              <a:rPr lang="en-US" b="1" dirty="0">
                <a:ea typeface="+mn-lt"/>
                <a:cs typeface="+mn-lt"/>
              </a:rPr>
              <a:t>Age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b="1" dirty="0">
                <a:ea typeface="+mn-lt"/>
                <a:cs typeface="+mn-lt"/>
              </a:rPr>
              <a:t>Gender</a:t>
            </a:r>
            <a:r>
              <a:rPr lang="en-US" dirty="0">
                <a:ea typeface="+mn-lt"/>
                <a:cs typeface="+mn-lt"/>
              </a:rPr>
              <a:t>, and </a:t>
            </a:r>
            <a:r>
              <a:rPr lang="en-US" b="1" dirty="0">
                <a:ea typeface="+mn-lt"/>
                <a:cs typeface="+mn-lt"/>
              </a:rPr>
              <a:t>Emotion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Approach:</a:t>
            </a:r>
            <a:r>
              <a:rPr lang="en-US" dirty="0">
                <a:ea typeface="+mn-lt"/>
                <a:cs typeface="+mn-lt"/>
              </a:rPr>
              <a:t> The project utilizes Convolutional Neural Networks (CNNs). Three separate models were trained specifically for each task to ensure high modularity and accuracy.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Key Feature:</a:t>
            </a:r>
            <a:r>
              <a:rPr lang="en-US" dirty="0">
                <a:ea typeface="+mn-lt"/>
                <a:cs typeface="+mn-lt"/>
              </a:rPr>
              <a:t> The system integrates Computer Vision (OpenCV) for face detection and </a:t>
            </a:r>
            <a:r>
              <a:rPr lang="en-US" err="1">
                <a:ea typeface="+mn-lt"/>
                <a:cs typeface="+mn-lt"/>
              </a:rPr>
              <a:t>Keras</a:t>
            </a:r>
            <a:r>
              <a:rPr lang="en-US" dirty="0">
                <a:ea typeface="+mn-lt"/>
                <a:cs typeface="+mn-lt"/>
              </a:rPr>
              <a:t>/TensorFlow for attribute prediction, converting raw pixels into meaningful demographic and sentimental insights.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Application:</a:t>
            </a:r>
            <a:r>
              <a:rPr lang="en-US" dirty="0">
                <a:ea typeface="+mn-lt"/>
                <a:cs typeface="+mn-lt"/>
              </a:rPr>
              <a:t> Useful in retail analytics (customer profiling), smart signage, and human-computer interaction systems.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A6E8-FDC4-0673-E8A1-34237F37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266" y="157366"/>
            <a:ext cx="5827544" cy="655637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ea typeface="+mj-lt"/>
                <a:cs typeface="+mj-lt"/>
              </a:rPr>
              <a:t>Literature Study</a:t>
            </a:r>
            <a:endParaRPr lang="en-US">
              <a:solidFill>
                <a:srgbClr val="FFFF00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A90EA09-9FF5-7A91-6D63-DDD032461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148948"/>
              </p:ext>
            </p:extLst>
          </p:nvPr>
        </p:nvGraphicFramePr>
        <p:xfrm>
          <a:off x="117230" y="662353"/>
          <a:ext cx="12024514" cy="6065674"/>
        </p:xfrm>
        <a:graphic>
          <a:graphicData uri="http://schemas.openxmlformats.org/drawingml/2006/table">
            <a:tbl>
              <a:tblPr bandRow="1">
                <a:tableStyleId>{5FD0F851-EC5A-4D38-B0AD-8093EC10F338}</a:tableStyleId>
              </a:tblPr>
              <a:tblGrid>
                <a:gridCol w="940400">
                  <a:extLst>
                    <a:ext uri="{9D8B030D-6E8A-4147-A177-3AD203B41FA5}">
                      <a16:colId xmlns:a16="http://schemas.microsoft.com/office/drawing/2014/main" val="32092099"/>
                    </a:ext>
                  </a:extLst>
                </a:gridCol>
                <a:gridCol w="2412248">
                  <a:extLst>
                    <a:ext uri="{9D8B030D-6E8A-4147-A177-3AD203B41FA5}">
                      <a16:colId xmlns:a16="http://schemas.microsoft.com/office/drawing/2014/main" val="2652727081"/>
                    </a:ext>
                  </a:extLst>
                </a:gridCol>
                <a:gridCol w="1711488">
                  <a:extLst>
                    <a:ext uri="{9D8B030D-6E8A-4147-A177-3AD203B41FA5}">
                      <a16:colId xmlns:a16="http://schemas.microsoft.com/office/drawing/2014/main" val="3913538058"/>
                    </a:ext>
                  </a:extLst>
                </a:gridCol>
                <a:gridCol w="1640669">
                  <a:extLst>
                    <a:ext uri="{9D8B030D-6E8A-4147-A177-3AD203B41FA5}">
                      <a16:colId xmlns:a16="http://schemas.microsoft.com/office/drawing/2014/main" val="3900027225"/>
                    </a:ext>
                  </a:extLst>
                </a:gridCol>
                <a:gridCol w="1013642">
                  <a:extLst>
                    <a:ext uri="{9D8B030D-6E8A-4147-A177-3AD203B41FA5}">
                      <a16:colId xmlns:a16="http://schemas.microsoft.com/office/drawing/2014/main" val="1868360328"/>
                    </a:ext>
                  </a:extLst>
                </a:gridCol>
                <a:gridCol w="2266247">
                  <a:extLst>
                    <a:ext uri="{9D8B030D-6E8A-4147-A177-3AD203B41FA5}">
                      <a16:colId xmlns:a16="http://schemas.microsoft.com/office/drawing/2014/main" val="1559375984"/>
                    </a:ext>
                  </a:extLst>
                </a:gridCol>
                <a:gridCol w="2039820">
                  <a:extLst>
                    <a:ext uri="{9D8B030D-6E8A-4147-A177-3AD203B41FA5}">
                      <a16:colId xmlns:a16="http://schemas.microsoft.com/office/drawing/2014/main" val="494968416"/>
                    </a:ext>
                  </a:extLst>
                </a:gridCol>
              </a:tblGrid>
              <a:tr h="467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err="1">
                          <a:solidFill>
                            <a:srgbClr val="FFFF00"/>
                          </a:solidFill>
                          <a:effectLst/>
                        </a:rPr>
                        <a:t>S.No</a:t>
                      </a:r>
                      <a:endParaRPr lang="en-US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  <a:effectLst/>
                        </a:rPr>
                        <a:t>Title</a:t>
                      </a:r>
                      <a:endParaRPr lang="en-US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  <a:effectLst/>
                        </a:rPr>
                        <a:t>Authors</a:t>
                      </a:r>
                      <a:endParaRPr lang="en-US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  <a:effectLst/>
                        </a:rPr>
                        <a:t>Journal/Conf</a:t>
                      </a:r>
                      <a:endParaRPr lang="en-US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  <a:effectLst/>
                        </a:rPr>
                        <a:t>Year</a:t>
                      </a:r>
                      <a:endParaRPr lang="en-US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  <a:effectLst/>
                        </a:rPr>
                        <a:t>Methodology</a:t>
                      </a:r>
                      <a:endParaRPr lang="en-US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FF00"/>
                          </a:solidFill>
                          <a:effectLst/>
                        </a:rPr>
                        <a:t>Remarks</a:t>
                      </a:r>
                      <a:endParaRPr lang="en-US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388828"/>
                  </a:ext>
                </a:extLst>
              </a:tr>
              <a:tr h="1473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Age and Gender Prediction using Deep CNNs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R. Rothe et al.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IJCV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2023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VGG-16 architecture on IMDB-WIKI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High accuracy but computationally expensive for real-time.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172644"/>
                  </a:ext>
                </a:extLst>
              </a:tr>
              <a:tr h="154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Facial Emotion Recognition using CNN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M. A. H. Akhand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IEEE Access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2021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CNN with Data Augmentation on FER2013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Good performance on static images; struggles with occlusion.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170088"/>
                  </a:ext>
                </a:extLst>
              </a:tr>
              <a:tr h="1066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Real-time Age/Gender estimation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K. Zhang et al.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CVPR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2019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Multi-task CNN learning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Efficient but accuracy drops in low light.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189334"/>
                  </a:ext>
                </a:extLst>
              </a:tr>
              <a:tr h="1512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Age and Gender Classification using Convolutional Neural Networks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G. Levi &amp; T. Hassner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IEEE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2015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Simple CNN architecture on </a:t>
                      </a:r>
                      <a:r>
                        <a:rPr lang="en-US" err="1">
                          <a:solidFill>
                            <a:srgbClr val="FFFF00"/>
                          </a:solidFill>
                          <a:effectLst/>
                        </a:rPr>
                        <a:t>Adience</a:t>
                      </a:r>
                      <a:endParaRPr lang="en-US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effectLst/>
                        </a:rPr>
                        <a:t>Foundation paper for using CNNs on age/gender tasks.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782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99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6424-6194-45C8-59BB-3518DB1B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159" y="409372"/>
            <a:ext cx="4633204" cy="66330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Research Gaps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FBC70-D722-456C-B971-7F2D98BE9F9C}"/>
              </a:ext>
            </a:extLst>
          </p:cNvPr>
          <p:cNvSpPr txBox="1"/>
          <p:nvPr/>
        </p:nvSpPr>
        <p:spPr>
          <a:xfrm>
            <a:off x="592151" y="2276260"/>
            <a:ext cx="1100294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Complex Backgrounds:</a:t>
            </a:r>
            <a:r>
              <a:rPr lang="en-US" dirty="0">
                <a:ea typeface="+mn-lt"/>
                <a:cs typeface="+mn-lt"/>
              </a:rPr>
              <a:t> Traditional image processing techniques (like LBP or Gabor filters) fail in cluttered backgrounds or varying lighting conditions.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Feature Engineering:</a:t>
            </a:r>
            <a:r>
              <a:rPr lang="en-US" dirty="0">
                <a:ea typeface="+mn-lt"/>
                <a:cs typeface="+mn-lt"/>
              </a:rPr>
              <a:t> Manual feature extraction is tedious and rarely generalizes well to unseen faces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Real-time Latency:</a:t>
            </a:r>
            <a:r>
              <a:rPr lang="en-US" dirty="0">
                <a:ea typeface="+mn-lt"/>
                <a:cs typeface="+mn-lt"/>
              </a:rPr>
              <a:t> Many deep networks (like ResNet-50 or VGG) are too heavy for real-time CPU-based inference.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Multi-Attribute Dependency:</a:t>
            </a:r>
            <a:r>
              <a:rPr lang="en-US" dirty="0">
                <a:ea typeface="+mn-lt"/>
                <a:cs typeface="+mn-lt"/>
              </a:rPr>
              <a:t> Predicting age, gender, and emotion simultaneously usually requires massive computational power; lightweight custom CNNs are needed to bridge this gap.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66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BD8ACF-8ACB-F5FF-6B16-6D1A2E221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32"/>
            <a:ext cx="4426782" cy="1331605"/>
          </a:xfr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Proposed Methodology (Overview)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DB25F96-FA46-943B-3B54-2500BD64122B}"/>
              </a:ext>
            </a:extLst>
          </p:cNvPr>
          <p:cNvSpPr txBox="1"/>
          <p:nvPr/>
        </p:nvSpPr>
        <p:spPr>
          <a:xfrm>
            <a:off x="820418" y="2348768"/>
            <a:ext cx="5834148" cy="4232448"/>
          </a:xfrm>
          <a:prstGeom prst="rect">
            <a:avLst/>
          </a:prstGeom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rgbClr val="FFFF00">
                    <a:alpha val="70000"/>
                  </a:srgbClr>
                </a:solidFill>
              </a:rPr>
              <a:t>Step 1: Image Acquisition:</a:t>
            </a: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 Input image or live video stream.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rgbClr val="FFFF00">
                    <a:alpha val="70000"/>
                  </a:srgbClr>
                </a:solidFill>
              </a:rPr>
              <a:t>Step 2: Face Detection:</a:t>
            </a: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 Utilizing Haar Cascade Classifiers (haarcascade_frontalface_default.xml) to isolate faces from the background.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rgbClr val="FFFF00">
                    <a:alpha val="70000"/>
                  </a:srgbClr>
                </a:solidFill>
              </a:rPr>
              <a:t>Step 3: Pre-processing:</a:t>
            </a: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Grayscale conversion (1 channel).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Resizing (48x48 for Emotion, 100x100 for Gender, 200x200 for Age).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Normalization (Pixel values / 255).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§"/>
            </a:pP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rgbClr val="FFFF00">
                    <a:alpha val="70000"/>
                  </a:srgbClr>
                </a:solidFill>
              </a:rPr>
              <a:t>Step 4: Feature Extraction &amp; Classification:</a:t>
            </a: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 Passing the processed ROI (Region of Interest) into three separate trained CNN models.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rgbClr val="FFFF00">
                    <a:alpha val="70000"/>
                  </a:srgbClr>
                </a:solidFill>
              </a:rPr>
              <a:t>Step 5: Output Visualization:</a:t>
            </a: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 Overlaying the predicted Age Range, Gender, and Emotion label on the video frame.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1AC2B-E0EE-4BB9-8BC1-EC5DA9DBE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312270C8-12E9-61AD-3149-5982A9445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864" y="833027"/>
            <a:ext cx="4452148" cy="519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66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9F5FE0-EBCF-4A14-AF3D-1ADCD644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A0548-1A2C-DC42-9C22-40870B5F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1011236"/>
            <a:ext cx="4426782" cy="1292662"/>
          </a:xfrm>
        </p:spPr>
        <p:txBody>
          <a:bodyPr vert="horz" lIns="0" tIns="0" rIns="0" bIns="0" rtlCol="0" anchor="t" anchorCtr="0">
            <a:normAutofit/>
          </a:bodyPr>
          <a:lstStyle/>
          <a:p>
            <a:pPr algn="l"/>
            <a:r>
              <a:rPr lang="en-US" sz="2600"/>
              <a:t>Proposed Methodology CNN Architecture</a:t>
            </a:r>
          </a:p>
        </p:txBody>
      </p:sp>
      <p:pic>
        <p:nvPicPr>
          <p:cNvPr id="4" name="Picture 3" descr="A diagram of different types of rectangular objects&#10;&#10;AI-generated content may be incorrect.">
            <a:extLst>
              <a:ext uri="{FF2B5EF4-FFF2-40B4-BE49-F238E27FC236}">
                <a16:creationId xmlns:a16="http://schemas.microsoft.com/office/drawing/2014/main" id="{718A8378-241B-158C-FA34-1BFE508B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48" y="3191669"/>
            <a:ext cx="4754936" cy="2623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BD1D3A-F78D-0D91-D799-EFD5806D7B89}"/>
              </a:ext>
            </a:extLst>
          </p:cNvPr>
          <p:cNvSpPr txBox="1"/>
          <p:nvPr/>
        </p:nvSpPr>
        <p:spPr>
          <a:xfrm>
            <a:off x="6096000" y="987423"/>
            <a:ext cx="5555012" cy="4781552"/>
          </a:xfrm>
          <a:prstGeom prst="rect">
            <a:avLst/>
          </a:prstGeom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Input Layers: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Tailored input shapes (200x200x1, 100x100x1, 48x48x1).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Convolutional Layers:</a:t>
            </a: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Used Conv2D with </a:t>
            </a:r>
            <a:r>
              <a:rPr lang="en-US" sz="1200" dirty="0" err="1">
                <a:solidFill>
                  <a:schemeClr val="tx1">
                    <a:alpha val="70000"/>
                  </a:schemeClr>
                </a:solidFill>
              </a:rPr>
              <a:t>ReLU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activation.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Filter sizes increased progressively: 32 → 64 → 128 → 256.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Kernel size: (3,3) with same padding.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Pooling Strategy:</a:t>
            </a: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b="1" dirty="0" err="1">
                <a:solidFill>
                  <a:schemeClr val="tx1">
                    <a:alpha val="70000"/>
                  </a:schemeClr>
                </a:solidFill>
              </a:rPr>
              <a:t>AgeModel</a:t>
            </a: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: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Used AveragePooling2D and GlobalAveragePooling2D (smoothing features).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Gender/Emotion Models: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Used MaxPooling2D (capturing dominant features).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Regularization: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Dropout layers (0.1 to 0.2) used to prevent overfitting.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Output Layers:</a:t>
            </a: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Gender: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Dense(2) with Sigmoid/</a:t>
            </a:r>
            <a:r>
              <a:rPr lang="en-US" sz="1200" dirty="0" err="1">
                <a:solidFill>
                  <a:schemeClr val="tx1">
                    <a:alpha val="70000"/>
                  </a:schemeClr>
                </a:solidFill>
              </a:rPr>
              <a:t>Softmax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Emotion: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Dense(3) with Sigmoid (Mapped to Positive, Negative, Neutral).</a:t>
            </a:r>
          </a:p>
          <a:p>
            <a:pPr marL="285750" indent="-285750"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/>
              <a:buChar char="v"/>
            </a:pPr>
            <a:r>
              <a:rPr lang="en-US" sz="1200" b="1" dirty="0">
                <a:solidFill>
                  <a:schemeClr val="tx1">
                    <a:alpha val="70000"/>
                  </a:schemeClr>
                </a:solidFill>
              </a:rPr>
              <a:t>Age: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 Dense(7) with </a:t>
            </a:r>
            <a:r>
              <a:rPr lang="en-US" sz="1200" dirty="0" err="1">
                <a:solidFill>
                  <a:schemeClr val="tx1">
                    <a:alpha val="70000"/>
                  </a:schemeClr>
                </a:solidFill>
              </a:rPr>
              <a:t>Softmax</a:t>
            </a: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 (Classified into ranges).</a:t>
            </a:r>
          </a:p>
          <a:p>
            <a:pPr>
              <a:lnSpc>
                <a:spcPct val="115000"/>
              </a:lnSpc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</a:pP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547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94FC2B-7DAA-FBFB-F832-41D896B9EF85}"/>
              </a:ext>
            </a:extLst>
          </p:cNvPr>
          <p:cNvSpPr>
            <a:spLocks noGrp="1"/>
          </p:cNvSpPr>
          <p:nvPr/>
        </p:nvSpPr>
        <p:spPr>
          <a:xfrm>
            <a:off x="6364861" y="485032"/>
            <a:ext cx="4600778" cy="77139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  <a:ea typeface="+mj-lt"/>
                <a:cs typeface="+mj-lt"/>
              </a:rPr>
              <a:t>Datasets Details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5E2520A-CFFB-5FFC-6A50-23A0733D42E8}"/>
              </a:ext>
            </a:extLst>
          </p:cNvPr>
          <p:cNvSpPr txBox="1"/>
          <p:nvPr/>
        </p:nvSpPr>
        <p:spPr>
          <a:xfrm>
            <a:off x="6676977" y="2050719"/>
            <a:ext cx="5374638" cy="418576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●Datasets used:</a:t>
            </a:r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    ○ Facial-age &amp; </a:t>
            </a:r>
            <a:r>
              <a:rPr lang="en-US" sz="1400" err="1">
                <a:solidFill>
                  <a:srgbClr val="FFFF00"/>
                </a:solidFill>
                <a:ea typeface="+mn-lt"/>
                <a:cs typeface="+mn-lt"/>
              </a:rPr>
              <a:t>UTKFace</a:t>
            </a:r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 for Age Detection</a:t>
            </a:r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    ○ UTK Faces for Gender Detection</a:t>
            </a:r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    ○ CK+48 for Emotion Detection</a:t>
            </a:r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● Trained Deep Learning CNN Models, for detecting:</a:t>
            </a:r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   ○ Age as: '1-2', '3-9', '10-20', '21-27', '28-45', '46-65', '66-116'</a:t>
            </a:r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   ○ Gender as: 'male', 'female'</a:t>
            </a:r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   ○ Emotion as: </a:t>
            </a: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      Positive - Happy, Surprise.</a:t>
            </a:r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      Negative - Anger, Sadness.</a:t>
            </a: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      Neutral - Contempt, Disgust, Fear.</a:t>
            </a:r>
            <a:endParaRPr lang="en-US" sz="1400" dirty="0">
              <a:solidFill>
                <a:srgbClr val="FFFF00"/>
              </a:solidFill>
            </a:endParaRPr>
          </a:p>
          <a:p>
            <a:endParaRPr lang="en-US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</a:rPr>
              <a:t>● </a:t>
            </a:r>
            <a:r>
              <a:rPr lang="en-US" sz="1400" b="1" dirty="0">
                <a:solidFill>
                  <a:srgbClr val="FFFF00"/>
                </a:solidFill>
                <a:ea typeface="+mn-lt"/>
                <a:cs typeface="+mn-lt"/>
              </a:rPr>
              <a:t>Split:</a:t>
            </a:r>
            <a:endParaRPr lang="en-US" sz="1400" dirty="0">
              <a:solidFill>
                <a:srgbClr val="FFFF00"/>
              </a:solidFill>
              <a:ea typeface="+mn-lt"/>
              <a:cs typeface="+mn-lt"/>
            </a:endParaRPr>
          </a:p>
          <a:p>
            <a:endParaRPr lang="en-US" sz="1400" dirty="0">
              <a:solidFill>
                <a:srgbClr val="FFFF00"/>
              </a:solidFill>
              <a:ea typeface="+mn-lt"/>
              <a:cs typeface="+mn-lt"/>
            </a:endParaRPr>
          </a:p>
          <a:p>
            <a:r>
              <a:rPr lang="en-US" sz="1400" dirty="0">
                <a:solidFill>
                  <a:srgbClr val="FFFF00"/>
                </a:solidFill>
                <a:ea typeface="+mn-lt"/>
                <a:cs typeface="+mn-lt"/>
              </a:rPr>
              <a:t>      75% Training, 25% Testing</a:t>
            </a:r>
            <a:endParaRPr lang="en-US" sz="1400" dirty="0">
              <a:solidFill>
                <a:srgbClr val="FFFF00"/>
              </a:solidFill>
            </a:endParaRPr>
          </a:p>
        </p:txBody>
      </p:sp>
      <p:pic>
        <p:nvPicPr>
          <p:cNvPr id="6" name="Picture 5" descr="What is a dataset? How do I work with it?">
            <a:extLst>
              <a:ext uri="{FF2B5EF4-FFF2-40B4-BE49-F238E27FC236}">
                <a16:creationId xmlns:a16="http://schemas.microsoft.com/office/drawing/2014/main" id="{D99121D7-0A3F-3972-549C-B2E9F7B5E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410" y="2341191"/>
            <a:ext cx="3675096" cy="331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35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FB4F144-36D4-DDA5-080E-48AD3731A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904" y="214819"/>
            <a:ext cx="10026650" cy="96053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Data Pre-processing Steps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626EC-026A-A983-0BEF-82ACFA337579}"/>
              </a:ext>
            </a:extLst>
          </p:cNvPr>
          <p:cNvSpPr txBox="1"/>
          <p:nvPr/>
        </p:nvSpPr>
        <p:spPr>
          <a:xfrm>
            <a:off x="2446312" y="2043285"/>
            <a:ext cx="7046847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ü"/>
            </a:pPr>
            <a:r>
              <a:rPr lang="en-US" sz="1400" b="1" err="1">
                <a:ea typeface="+mn-lt"/>
                <a:cs typeface="+mn-lt"/>
              </a:rPr>
              <a:t>Grayscaling</a:t>
            </a:r>
            <a:r>
              <a:rPr lang="en-US" sz="1400" b="1" dirty="0">
                <a:ea typeface="+mn-lt"/>
                <a:cs typeface="+mn-lt"/>
              </a:rPr>
              <a:t>:</a:t>
            </a:r>
            <a:r>
              <a:rPr lang="en-US" sz="1400" dirty="0">
                <a:ea typeface="+mn-lt"/>
                <a:cs typeface="+mn-lt"/>
              </a:rPr>
              <a:t> All 3-channel RGB images were converted to 1-channel Grayscale to reduce computational complexity.</a:t>
            </a:r>
            <a:endParaRPr lang="en-US" sz="1400" dirty="0"/>
          </a:p>
          <a:p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r>
              <a:rPr lang="en-US" sz="1400" b="1" dirty="0">
                <a:ea typeface="+mn-lt"/>
                <a:cs typeface="+mn-lt"/>
              </a:rPr>
              <a:t>Resizing:</a:t>
            </a:r>
            <a:endParaRPr lang="en-US" sz="1400" dirty="0"/>
          </a:p>
          <a:p>
            <a:pPr marL="285750" indent="-285750">
              <a:buFont typeface="Wingdings"/>
              <a:buChar char="ü"/>
            </a:pPr>
            <a:endParaRPr lang="en-US" sz="1400" b="1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            Age Model Input: 200×200 pixels.</a:t>
            </a:r>
          </a:p>
          <a:p>
            <a:r>
              <a:rPr lang="en-US" sz="1400" dirty="0">
                <a:ea typeface="+mn-lt"/>
                <a:cs typeface="+mn-lt"/>
              </a:rPr>
              <a:t>            Gender Model Input: 100×100 pixels.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            Emotion Model Input: 48×48 pixels.</a:t>
            </a:r>
            <a:endParaRPr lang="en-US" sz="1400" dirty="0"/>
          </a:p>
          <a:p>
            <a:endParaRPr lang="en-US" sz="1400" b="1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r>
              <a:rPr lang="en-US" sz="1400" b="1" dirty="0">
                <a:ea typeface="+mn-lt"/>
                <a:cs typeface="+mn-lt"/>
              </a:rPr>
              <a:t>Normalization:</a:t>
            </a:r>
            <a:r>
              <a:rPr lang="en-US" sz="1400" dirty="0">
                <a:ea typeface="+mn-lt"/>
                <a:cs typeface="+mn-lt"/>
              </a:rPr>
              <a:t> Pixel intensities scaled from [0, 255] to [0, 1] for faster convergence during training.</a:t>
            </a:r>
            <a:endParaRPr lang="en-US" sz="1400" dirty="0"/>
          </a:p>
          <a:p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r>
              <a:rPr lang="en-US" sz="1400" b="1" dirty="0">
                <a:ea typeface="+mn-lt"/>
                <a:cs typeface="+mn-lt"/>
              </a:rPr>
              <a:t>Label Encoding:</a:t>
            </a: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Wingdings"/>
              <a:buChar char="ü"/>
            </a:pPr>
            <a:endParaRPr lang="en-US" sz="1400" b="1" dirty="0">
              <a:ea typeface="+mn-lt"/>
              <a:cs typeface="+mn-lt"/>
            </a:endParaRPr>
          </a:p>
          <a:p>
            <a:r>
              <a:rPr lang="en-US" sz="1400" b="1" dirty="0">
                <a:ea typeface="+mn-lt"/>
                <a:cs typeface="+mn-lt"/>
              </a:rPr>
              <a:t>       Age:</a:t>
            </a:r>
            <a:r>
              <a:rPr lang="en-US" sz="1400" dirty="0">
                <a:ea typeface="+mn-lt"/>
                <a:cs typeface="+mn-lt"/>
              </a:rPr>
              <a:t> Binning into 7 classes: ['1-2', '3-9', '10-20', '21-27', '28-45', '46-65', '66-116'].</a:t>
            </a:r>
            <a:endParaRPr lang="en-US" sz="1400"/>
          </a:p>
          <a:p>
            <a:r>
              <a:rPr lang="en-US" sz="1400" b="1" dirty="0">
                <a:ea typeface="+mn-lt"/>
                <a:cs typeface="+mn-lt"/>
              </a:rPr>
              <a:t>       Gender:</a:t>
            </a:r>
            <a:r>
              <a:rPr lang="en-US" sz="1400" dirty="0">
                <a:ea typeface="+mn-lt"/>
                <a:cs typeface="+mn-lt"/>
              </a:rPr>
              <a:t> Binary encoding (0: Male, 1: Female).</a:t>
            </a:r>
            <a:endParaRPr lang="en-US" sz="1400" dirty="0"/>
          </a:p>
          <a:p>
            <a:r>
              <a:rPr lang="en-US" sz="1400" b="1" dirty="0">
                <a:ea typeface="+mn-lt"/>
                <a:cs typeface="+mn-lt"/>
              </a:rPr>
              <a:t>       Emotion:</a:t>
            </a:r>
            <a:r>
              <a:rPr lang="en-US" sz="1400" dirty="0">
                <a:ea typeface="+mn-lt"/>
                <a:cs typeface="+mn-lt"/>
              </a:rPr>
              <a:t> One-hot encoding of 3 classes.</a:t>
            </a:r>
            <a:endParaRPr lang="en-US" sz="1400" dirty="0"/>
          </a:p>
          <a:p>
            <a:pPr algn="l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777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D994EA-9589-A0CB-328E-0DE1587C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00"/>
            <a:ext cx="4426782" cy="1331637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Evaluation Metrics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34B8D-0FE3-B5FC-54CE-377874078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0000" y="2759076"/>
            <a:ext cx="4460874" cy="3009899"/>
          </a:xfrm>
        </p:spPr>
        <p:txBody>
          <a:bodyPr vert="horz" lIns="0" tIns="0" rIns="0" bIns="0" rtlCol="0" anchor="t" anchorCtr="0">
            <a:normAutofit/>
          </a:bodyPr>
          <a:lstStyle/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Accuracy: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The ratio of correctly predicted observations to the total observations.</a:t>
            </a:r>
          </a:p>
          <a:p>
            <a:pPr>
              <a:lnSpc>
                <a:spcPct val="115000"/>
              </a:lnSpc>
            </a:pPr>
            <a:endParaRPr lang="en-US" sz="1300" dirty="0">
              <a:solidFill>
                <a:srgbClr val="FFFF00">
                  <a:alpha val="70000"/>
                </a:srgbClr>
              </a:solidFill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Loss Function:</a:t>
            </a:r>
            <a:endParaRPr lang="en-US" sz="1300" dirty="0">
              <a:solidFill>
                <a:srgbClr val="FFFF00">
                  <a:alpha val="70000"/>
                </a:srgbClr>
              </a:solidFill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Categorical </a:t>
            </a:r>
            <a:r>
              <a:rPr lang="en-US" sz="1300" b="1" err="1">
                <a:solidFill>
                  <a:srgbClr val="FFFF00">
                    <a:alpha val="70000"/>
                  </a:srgbClr>
                </a:solidFill>
              </a:rPr>
              <a:t>Crossentropy</a:t>
            </a: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: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Used for Age and Emotion (Multi-class classification).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Sparse Categorical </a:t>
            </a:r>
            <a:r>
              <a:rPr lang="en-US" sz="1300" b="1" err="1">
                <a:solidFill>
                  <a:srgbClr val="FFFF00">
                    <a:alpha val="70000"/>
                  </a:srgbClr>
                </a:solidFill>
              </a:rPr>
              <a:t>Crossentropy</a:t>
            </a: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: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Used for Gender (Binary classification).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Confusion Matrix: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To analyze the performance of specific classes (e.g., confusing "Fear" with "Surprise").</a:t>
            </a:r>
          </a:p>
          <a:p>
            <a:pPr>
              <a:lnSpc>
                <a:spcPct val="115000"/>
              </a:lnSpc>
            </a:pPr>
            <a:endParaRPr lang="en-US" sz="1300" dirty="0">
              <a:solidFill>
                <a:srgbClr val="FFFF00">
                  <a:alpha val="70000"/>
                </a:srgb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2478B3-BDC4-4698-948E-A96AF854E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4802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10" name="Picture 9" descr="How to interpret a confusion matrix for a machine learning model">
            <a:extLst>
              <a:ext uri="{FF2B5EF4-FFF2-40B4-BE49-F238E27FC236}">
                <a16:creationId xmlns:a16="http://schemas.microsoft.com/office/drawing/2014/main" id="{57255C48-626C-ABFA-09B6-645AF6E3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799" y="540000"/>
            <a:ext cx="3102383" cy="1746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parse Categorical Cross-Entropy vs Categorical Cross-Entropy | by Felipe  A. Moreno | Medium">
            <a:extLst>
              <a:ext uri="{FF2B5EF4-FFF2-40B4-BE49-F238E27FC236}">
                <a16:creationId xmlns:a16="http://schemas.microsoft.com/office/drawing/2014/main" id="{1D5ACE0C-F6F4-F5B1-EEC0-65F1342BB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790" y="2682860"/>
            <a:ext cx="4442400" cy="1492279"/>
          </a:xfrm>
          <a:prstGeom prst="rect">
            <a:avLst/>
          </a:pr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FAFBD84-F7AD-5571-2486-07B776ED219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l="3078" t="1749" r="5654" b="208"/>
          <a:stretch>
            <a:fillRect/>
          </a:stretch>
        </p:blipFill>
        <p:spPr>
          <a:xfrm>
            <a:off x="7195790" y="4872341"/>
            <a:ext cx="4442400" cy="114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4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34DA3-7A07-0B21-DFAA-A6103F46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00"/>
            <a:ext cx="6120000" cy="1331637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/>
              <a:t>Experimental Results - Age Prediction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70000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BF0EB-5DAF-54CA-50A4-F948269A3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0000" y="2759076"/>
            <a:ext cx="6121400" cy="3009899"/>
          </a:xfrm>
        </p:spPr>
        <p:txBody>
          <a:bodyPr vert="horz" lIns="0" tIns="0" rIns="0" bIns="0" rtlCol="0" anchor="t" anchorCtr="0">
            <a:normAutofit/>
          </a:bodyPr>
          <a:lstStyle/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600" b="1"/>
              <a:t>Training Config:</a:t>
            </a:r>
            <a:r>
              <a:rPr lang="en-US" sz="1600"/>
              <a:t> 60 Epochs, Batch Size 512.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600" b="1"/>
              <a:t>Model Complexity:</a:t>
            </a:r>
            <a:r>
              <a:rPr lang="en-US" sz="1600"/>
              <a:t> ~422,000 Trainable parameters.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600" b="1"/>
              <a:t>Performance:</a:t>
            </a:r>
            <a:endParaRPr lang="en-US" sz="1600"/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600"/>
              <a:t>Training Accuracy achieved: </a:t>
            </a:r>
            <a:r>
              <a:rPr lang="en-US" sz="1600" b="1"/>
              <a:t>~90%</a:t>
            </a:r>
            <a:endParaRPr lang="en-US" sz="1600"/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600"/>
              <a:t>Validation Accuracy achieved: </a:t>
            </a:r>
            <a:r>
              <a:rPr lang="en-US" sz="1600" b="1"/>
              <a:t>~78-80%</a:t>
            </a:r>
            <a:endParaRPr lang="en-US" sz="1600"/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600" b="1"/>
              <a:t>Observation:</a:t>
            </a:r>
            <a:r>
              <a:rPr lang="en-US" sz="1600"/>
              <a:t> The model performs well on adults (21-65) but faces slight difficulty distinguishing between very adjacent classes (e.g., 21-27 vs 28-45) due to visual similarities.</a:t>
            </a:r>
          </a:p>
          <a:p>
            <a:pPr>
              <a:lnSpc>
                <a:spcPct val="115000"/>
              </a:lnSpc>
            </a:pPr>
            <a:endParaRPr lang="en-US" sz="16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97E3E-84E1-40AD-BDF4-00B29D57F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4850" y="0"/>
            <a:ext cx="386715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5" name="Picture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14019F05-1B7F-934C-8F84-77710E8BD7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439" b="2439"/>
          <a:stretch/>
        </p:blipFill>
        <p:spPr>
          <a:xfrm>
            <a:off x="8874124" y="602889"/>
            <a:ext cx="2776887" cy="2628221"/>
          </a:xfrm>
          <a:prstGeom prst="rect">
            <a:avLst/>
          </a:prstGeom>
        </p:spPr>
      </p:pic>
      <p:pic>
        <p:nvPicPr>
          <p:cNvPr id="6" name="Picture 5" descr="A graph of a line graph&#10;&#10;AI-generated content may be incorrect.">
            <a:extLst>
              <a:ext uri="{FF2B5EF4-FFF2-40B4-BE49-F238E27FC236}">
                <a16:creationId xmlns:a16="http://schemas.microsoft.com/office/drawing/2014/main" id="{AF113FC7-50A5-5311-FD27-A7421CC3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124" y="3639335"/>
            <a:ext cx="2776887" cy="260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60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A5AF6-4243-0BC6-1B40-37FB51A7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3910" y="540033"/>
            <a:ext cx="4426782" cy="1331604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Experimental Results - Gender Prediction</a:t>
            </a: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84777387-29B7-0487-273E-2FFB50E2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4" r="1" b="8407"/>
          <a:stretch>
            <a:fillRect/>
          </a:stretch>
        </p:blipFill>
        <p:spPr>
          <a:xfrm>
            <a:off x="1488028" y="540033"/>
            <a:ext cx="3100744" cy="27540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07300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EC29591-F272-AD1A-8455-8DCD1AC64CA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574" r="1" b="3149"/>
          <a:stretch>
            <a:fillRect/>
          </a:stretch>
        </p:blipFill>
        <p:spPr>
          <a:xfrm>
            <a:off x="1488011" y="3564000"/>
            <a:ext cx="3100778" cy="2754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E307D-0850-C3EC-3838-328368B43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45276" y="2759076"/>
            <a:ext cx="4460874" cy="3009899"/>
          </a:xfrm>
        </p:spPr>
        <p:txBody>
          <a:bodyPr vert="horz" lIns="0" tIns="0" rIns="0" bIns="0" rtlCol="0" anchor="t" anchorCtr="0">
            <a:normAutofit/>
          </a:bodyPr>
          <a:lstStyle/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Training Config: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30 Epochs.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Model Complexity: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~1.5 Million Trainable parameters (Larger dense layers).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Performance:</a:t>
            </a:r>
            <a:endParaRPr lang="en-US" sz="1300" dirty="0">
              <a:solidFill>
                <a:srgbClr val="FFFF00">
                  <a:alpha val="70000"/>
                </a:srgbClr>
              </a:solidFill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Training Accuracy: </a:t>
            </a: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~93%</a:t>
            </a:r>
            <a:endParaRPr lang="en-US" sz="1300" dirty="0">
              <a:solidFill>
                <a:srgbClr val="FFFF00">
                  <a:alpha val="70000"/>
                </a:srgbClr>
              </a:solidFill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Validation Accuracy: </a:t>
            </a: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~89%</a:t>
            </a:r>
            <a:endParaRPr lang="en-US" sz="1300" dirty="0">
              <a:solidFill>
                <a:srgbClr val="FFFF00">
                  <a:alpha val="70000"/>
                </a:srgbClr>
              </a:solidFill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300" b="1" dirty="0">
                <a:solidFill>
                  <a:srgbClr val="FFFF00">
                    <a:alpha val="70000"/>
                  </a:srgbClr>
                </a:solidFill>
              </a:rPr>
              <a:t>Observation: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The model converged quickly (within 15 epochs). The use of </a:t>
            </a:r>
            <a:r>
              <a:rPr lang="en-US" sz="1300" err="1">
                <a:solidFill>
                  <a:srgbClr val="FFFF00">
                    <a:alpha val="70000"/>
                  </a:srgbClr>
                </a:solidFill>
              </a:rPr>
              <a:t>MaxPooling</a:t>
            </a:r>
            <a:r>
              <a:rPr lang="en-US" sz="1300" dirty="0">
                <a:solidFill>
                  <a:srgbClr val="FFFF00">
                    <a:alpha val="70000"/>
                  </a:srgbClr>
                </a:solidFill>
              </a:rPr>
              <a:t> helped in extracting sharp features like jawline and hair texture which differ between genders.</a:t>
            </a:r>
          </a:p>
          <a:p>
            <a:pPr>
              <a:lnSpc>
                <a:spcPct val="115000"/>
              </a:lnSpc>
            </a:pPr>
            <a:endParaRPr lang="en-US" sz="1300" dirty="0">
              <a:solidFill>
                <a:srgbClr val="FFFF00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01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A55BF-E080-1B5C-C524-58E67603C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00"/>
            <a:ext cx="6120000" cy="1331637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/>
              <a:t>Experimental Results - Emotion Detection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70000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00FD2-50F4-2098-0976-E6C195A05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0000" y="2759076"/>
            <a:ext cx="6121400" cy="3009899"/>
          </a:xfrm>
        </p:spPr>
        <p:txBody>
          <a:bodyPr vert="horz" lIns="0" tIns="0" rIns="0" bIns="0" rtlCol="0" anchor="t" anchorCtr="0">
            <a:normAutofit/>
          </a:bodyPr>
          <a:lstStyle/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400" b="1"/>
              <a:t>Training Config:</a:t>
            </a:r>
            <a:r>
              <a:rPr lang="en-US" sz="1400"/>
              <a:t> 50 Epochs, Batch Size 32.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400" b="1"/>
              <a:t>Model Complexity:</a:t>
            </a:r>
            <a:r>
              <a:rPr lang="en-US" sz="1400"/>
              <a:t> ~683,000 Trainable parameters.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400" b="1"/>
              <a:t>Performance:</a:t>
            </a:r>
            <a:endParaRPr lang="en-US" sz="1400"/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400"/>
              <a:t>Training Accuracy: </a:t>
            </a:r>
            <a:r>
              <a:rPr lang="en-US" sz="1400" b="1"/>
              <a:t>~99%</a:t>
            </a:r>
            <a:endParaRPr lang="en-US" sz="1400"/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400"/>
              <a:t>Validation Accuracy: </a:t>
            </a:r>
            <a:r>
              <a:rPr lang="en-US" sz="1400" b="1"/>
              <a:t>~98%</a:t>
            </a:r>
            <a:endParaRPr lang="en-US" sz="1400"/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400" b="1"/>
              <a:t>Observation:</a:t>
            </a:r>
            <a:r>
              <a:rPr lang="en-US" sz="1400"/>
              <a:t> Grouping emotions into "Positive/Negative/Neutral" significantly boosted accuracy compared to predicting 7 distinct micro-expressions, making the system more robust for real-world retail scenarios.</a:t>
            </a:r>
          </a:p>
          <a:p>
            <a:pPr>
              <a:lnSpc>
                <a:spcPct val="115000"/>
              </a:lnSpc>
            </a:pPr>
            <a:endParaRPr lang="en-US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E97E3E-84E1-40AD-BDF4-00B29D57F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24850" y="0"/>
            <a:ext cx="3867150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5" name="Picture Placeholder 4" descr="A graph of loss and loss&#10;&#10;AI-generated content may be incorrect.">
            <a:extLst>
              <a:ext uri="{FF2B5EF4-FFF2-40B4-BE49-F238E27FC236}">
                <a16:creationId xmlns:a16="http://schemas.microsoft.com/office/drawing/2014/main" id="{E30F4144-5A0A-90C9-9848-42BD30C4E7A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565" b="2565"/>
          <a:stretch/>
        </p:blipFill>
        <p:spPr>
          <a:xfrm>
            <a:off x="8874124" y="603077"/>
            <a:ext cx="2776887" cy="2627845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373FFE3B-35EA-FC12-3639-07A106E89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4124" y="3566441"/>
            <a:ext cx="2776887" cy="274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52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596A1-7745-9820-0CA2-6B750CD2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88" y="540033"/>
            <a:ext cx="3884962" cy="1331604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Real-time Prediction Module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C6DF49-CBE3-4038-AC78-35DE4FD7C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3469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87797-FF66-9074-C47E-0247C12F5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4747" y="3016136"/>
            <a:ext cx="4426624" cy="3000719"/>
          </a:xfrm>
        </p:spPr>
        <p:txBody>
          <a:bodyPr vert="horz" lIns="0" tIns="0" rIns="0" bIns="0" rtlCol="0" anchor="t" anchorCtr="0">
            <a:noAutofit/>
          </a:bodyPr>
          <a:lstStyle/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b="1" dirty="0">
                <a:solidFill>
                  <a:srgbClr val="FFFF00">
                    <a:alpha val="70000"/>
                  </a:srgbClr>
                </a:solidFill>
              </a:rPr>
              <a:t>Implementation:</a:t>
            </a: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 The final module (3.1_Pred_Final.ipynb) loads the three saved .h5 models.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b="1" dirty="0">
                <a:solidFill>
                  <a:srgbClr val="FFFF00">
                    <a:alpha val="70000"/>
                  </a:srgbClr>
                </a:solidFill>
              </a:rPr>
              <a:t>Workflow:</a:t>
            </a: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Capture frame from Webcam.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Detect Face using Haar Cascade.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Extract Face ROI (Region of Interest).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Resize ROI 3 times (for Age, Gender, Emotion inputs).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Pass through respective models.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err="1">
                <a:solidFill>
                  <a:srgbClr val="FFFF00">
                    <a:alpha val="70000"/>
                  </a:srgbClr>
                </a:solidFill>
              </a:rPr>
              <a:t>np.argmax</a:t>
            </a: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() extracts the class with highest probability.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n-US" sz="1200" dirty="0">
                <a:solidFill>
                  <a:srgbClr val="FFFF00">
                    <a:alpha val="70000"/>
                  </a:srgbClr>
                </a:solidFill>
              </a:rPr>
              <a:t>Draw bounding box and label text using cv2.putText.</a:t>
            </a:r>
          </a:p>
          <a:p>
            <a:pPr>
              <a:lnSpc>
                <a:spcPct val="115000"/>
              </a:lnSpc>
            </a:pPr>
            <a:endParaRPr lang="en-US" sz="1200" dirty="0">
              <a:solidFill>
                <a:srgbClr val="FFFF00">
                  <a:alpha val="70000"/>
                </a:srgb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D9000E-708C-464D-A86F-4ABE391B6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6337" y="0"/>
            <a:ext cx="7205663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5" name="Picture Placeholder 4" descr="A person in a suit&#10;&#10;AI-generated content may be incorrect.">
            <a:extLst>
              <a:ext uri="{FF2B5EF4-FFF2-40B4-BE49-F238E27FC236}">
                <a16:creationId xmlns:a16="http://schemas.microsoft.com/office/drawing/2014/main" id="{BB959F30-F81C-516A-BF1D-A2EF54F4AC6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907" r="305"/>
          <a:stretch>
            <a:fillRect/>
          </a:stretch>
        </p:blipFill>
        <p:spPr>
          <a:xfrm>
            <a:off x="5537200" y="1118325"/>
            <a:ext cx="6113812" cy="461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9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BE6CC-8C1E-6B1C-8AA5-3F3426D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CCD2F-6960-1115-4E8A-99C450D747C3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83210" indent="-283210">
              <a:buClr>
                <a:srgbClr val="EF8C6A"/>
              </a:buClr>
            </a:pPr>
            <a:endParaRPr lang="en-US" dirty="0">
              <a:solidFill>
                <a:schemeClr val="tx1"/>
              </a:solidFill>
            </a:endParaRPr>
          </a:p>
          <a:p>
            <a:pPr marL="283210" indent="-2832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We successfully designed and implemented a deep learning system for demographic and sentiment analysis.</a:t>
            </a:r>
            <a:endParaRPr lang="en-US" dirty="0">
              <a:solidFill>
                <a:schemeClr val="tx1"/>
              </a:solidFill>
            </a:endParaRPr>
          </a:p>
          <a:p>
            <a:pPr marL="283210" indent="-283210">
              <a:buClr>
                <a:srgbClr val="EF8C6A"/>
              </a:buClr>
            </a:pP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Key Achievements:</a:t>
            </a:r>
            <a:endParaRPr lang="en-US" dirty="0">
              <a:solidFill>
                <a:schemeClr val="tx1"/>
              </a:solidFill>
            </a:endParaRPr>
          </a:p>
          <a:p>
            <a:pPr marL="283210" lvl="1">
              <a:buFont typeface="Arial" panose="05000000000000000000" pitchFamily="2" charset="2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Built a lightweight Age model using Global Average Pooling.</a:t>
            </a:r>
            <a:endParaRPr lang="en-US" dirty="0">
              <a:solidFill>
                <a:schemeClr val="tx1"/>
              </a:solidFill>
            </a:endParaRPr>
          </a:p>
          <a:p>
            <a:pPr marL="283210" lvl="1">
              <a:buFont typeface="Arial" panose="05000000000000000000" pitchFamily="2" charset="2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Achieved high accuracy on Emotion detection by simplifying class labels.</a:t>
            </a:r>
            <a:endParaRPr lang="en-US" dirty="0">
              <a:solidFill>
                <a:schemeClr val="tx1"/>
              </a:solidFill>
            </a:endParaRPr>
          </a:p>
          <a:p>
            <a:pPr marL="283210" lvl="1">
              <a:buFont typeface="Arial" panose="05000000000000000000" pitchFamily="2" charset="2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Integrated all three models into a single real-time prediction pipeline.</a:t>
            </a:r>
            <a:endParaRPr lang="en-US" dirty="0">
              <a:solidFill>
                <a:schemeClr val="tx1"/>
              </a:solidFill>
            </a:endParaRPr>
          </a:p>
          <a:p>
            <a:pPr marL="283210" indent="-2832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The system demonstrates that CNNs can effectively extract high-level facial features without manual descriptor calculation (like LBP or HOG).</a:t>
            </a:r>
            <a:endParaRPr lang="en-US" dirty="0">
              <a:solidFill>
                <a:schemeClr val="tx1"/>
              </a:solidFill>
            </a:endParaRPr>
          </a:p>
          <a:p>
            <a:pPr marL="283210" indent="-283210">
              <a:buClr>
                <a:srgbClr val="EF8C6A"/>
              </a:buClr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2D68-4F49-B72A-2EE6-5217E5D3E65C}"/>
              </a:ext>
            </a:extLst>
          </p:cNvPr>
          <p:cNvSpPr>
            <a:spLocks noGrp="1"/>
          </p:cNvSpPr>
          <p:nvPr/>
        </p:nvSpPr>
        <p:spPr>
          <a:xfrm>
            <a:off x="2051186" y="587712"/>
            <a:ext cx="7797799" cy="722486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FFFF00"/>
                </a:solidFill>
                <a:ea typeface="+mj-lt"/>
                <a:cs typeface="+mj-lt"/>
              </a:rPr>
              <a:t>Future Scope</a:t>
            </a:r>
            <a:endParaRPr lang="en-US" b="1">
              <a:solidFill>
                <a:srgbClr val="FFFF00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DE243D7-DB59-DD1E-4748-FE317A6EEB12}"/>
              </a:ext>
            </a:extLst>
          </p:cNvPr>
          <p:cNvSpPr txBox="1"/>
          <p:nvPr/>
        </p:nvSpPr>
        <p:spPr>
          <a:xfrm>
            <a:off x="2277665" y="2845307"/>
            <a:ext cx="7858698" cy="258532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FF00"/>
                </a:solidFill>
                <a:ea typeface="+mn-lt"/>
                <a:cs typeface="+mn-lt"/>
              </a:rPr>
              <a:t>Dataset Expansion:</a:t>
            </a:r>
            <a:r>
              <a:rPr lang="en-US" dirty="0">
                <a:solidFill>
                  <a:srgbClr val="FFFF00"/>
                </a:solidFill>
                <a:ea typeface="+mn-lt"/>
                <a:cs typeface="+mn-lt"/>
              </a:rPr>
              <a:t> Train on datasets with more ethnic diversity to reduce bias.</a:t>
            </a:r>
            <a:endParaRPr lang="en-US" dirty="0">
              <a:solidFill>
                <a:srgbClr val="FFFF00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FFFF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FF00"/>
                </a:solidFill>
                <a:ea typeface="+mn-lt"/>
                <a:cs typeface="+mn-lt"/>
              </a:rPr>
              <a:t>Architecture:</a:t>
            </a:r>
            <a:r>
              <a:rPr lang="en-US" dirty="0">
                <a:solidFill>
                  <a:srgbClr val="FFFF00"/>
                </a:solidFill>
                <a:ea typeface="+mn-lt"/>
                <a:cs typeface="+mn-lt"/>
              </a:rPr>
              <a:t> Implement Transfer Learning using </a:t>
            </a:r>
            <a:r>
              <a:rPr lang="en-US" b="1" dirty="0">
                <a:solidFill>
                  <a:srgbClr val="FFFF00"/>
                </a:solidFill>
                <a:ea typeface="+mn-lt"/>
                <a:cs typeface="+mn-lt"/>
              </a:rPr>
              <a:t>MobileNetV2</a:t>
            </a:r>
            <a:r>
              <a:rPr lang="en-US" dirty="0">
                <a:solidFill>
                  <a:srgbClr val="FFFF00"/>
                </a:solidFill>
                <a:ea typeface="+mn-lt"/>
                <a:cs typeface="+mn-lt"/>
              </a:rPr>
              <a:t> to further reduce model size for mobile deployment.</a:t>
            </a:r>
            <a:endParaRPr lang="en-US" dirty="0">
              <a:solidFill>
                <a:srgbClr val="FFFF00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FFFF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FF00"/>
                </a:solidFill>
                <a:ea typeface="+mn-lt"/>
                <a:cs typeface="+mn-lt"/>
              </a:rPr>
              <a:t>Micro-expressions:</a:t>
            </a:r>
            <a:r>
              <a:rPr lang="en-US" dirty="0">
                <a:solidFill>
                  <a:srgbClr val="FFFF00"/>
                </a:solidFill>
                <a:ea typeface="+mn-lt"/>
                <a:cs typeface="+mn-lt"/>
              </a:rPr>
              <a:t> Expand the Emotion model back to 7 classes using attention mechanisms to detect subtle emotions like "Contempt".</a:t>
            </a:r>
            <a:endParaRPr lang="en-US" dirty="0">
              <a:solidFill>
                <a:srgbClr val="FFFF00"/>
              </a:solidFill>
            </a:endParaRPr>
          </a:p>
          <a:p>
            <a:pPr algn="l"/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119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45F2-5CCC-BEF5-5A6D-C5E04532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A757-81E5-3945-41DD-A1398269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9410" indent="-359410"/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Rothe, R., Timofte, R., &amp; Van Gool, L. (2018). Deep expectation of real and apparent age from a single image without facial landmarks. </a:t>
            </a:r>
            <a:r>
              <a:rPr lang="en-US" i="1" dirty="0">
                <a:solidFill>
                  <a:schemeClr val="tx1"/>
                </a:solidFill>
                <a:ea typeface="+mn-lt"/>
                <a:cs typeface="+mn-lt"/>
              </a:rPr>
              <a:t>International Journal of Computer Vision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Levi, G., &amp; Hassner, T. (2015). Age and gender classification using convolutional neural networks. </a:t>
            </a:r>
            <a:r>
              <a:rPr lang="en-US" i="1" dirty="0">
                <a:solidFill>
                  <a:schemeClr val="tx1"/>
                </a:solidFill>
                <a:ea typeface="+mn-lt"/>
                <a:cs typeface="+mn-lt"/>
              </a:rPr>
              <a:t>IEEE Conference on Computer Vision and Pattern Recognition (CVPR)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Zhang, K., &amp; Gao, Y. (2019). Joint Age and Gender Classification.</a:t>
            </a:r>
            <a:endParaRPr lang="en-US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Keras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Documentation: 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https://keras.io/</a:t>
            </a:r>
            <a:endParaRPr lang="en-US">
              <a:solidFill>
                <a:schemeClr val="tx1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59410" indent="-359410">
              <a:buClr>
                <a:srgbClr val="EF8C6A"/>
              </a:buClr>
            </a:pPr>
            <a:r>
              <a:rPr lang="en-US" dirty="0" err="1">
                <a:solidFill>
                  <a:schemeClr val="tx1"/>
                </a:solidFill>
                <a:ea typeface="+mn-lt"/>
                <a:cs typeface="+mn-lt"/>
              </a:rPr>
              <a:t>UTKFace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Dataset: https://www.kaggle.com/datasets/jangedoo/utkface-new</a:t>
            </a:r>
            <a:endParaRPr lang="en-US" dirty="0">
              <a:solidFill>
                <a:schemeClr val="tx1"/>
              </a:solidFill>
            </a:endParaRPr>
          </a:p>
          <a:p>
            <a:pPr marL="359410" indent="-359410">
              <a:buClr>
                <a:srgbClr val="EF8C6A"/>
              </a:buClr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922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33059B-AF8D-467E-BDB3-CD063FDD20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7FEE6A-70C7-4994-95E7-698D6AC488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A5F18C-93E4-4C3A-A312-44EF0CB57AC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LeafVTI</Template>
  <TotalTime>0</TotalTime>
  <Words>1466</Words>
  <Application>Microsoft Office PowerPoint</Application>
  <PresentationFormat>Widescreen</PresentationFormat>
  <Paragraphs>201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Avenir Next LT Pro Light</vt:lpstr>
      <vt:lpstr>Calibri</vt:lpstr>
      <vt:lpstr>Rockwell Nova Light</vt:lpstr>
      <vt:lpstr>Wingdings</vt:lpstr>
      <vt:lpstr>LeafVTI</vt:lpstr>
      <vt:lpstr>Age, Gender, and Emotion Detection using Deep Learning</vt:lpstr>
      <vt:lpstr>Contents</vt:lpstr>
      <vt:lpstr>Abstract</vt:lpstr>
      <vt:lpstr>Literature Study</vt:lpstr>
      <vt:lpstr>Research Gaps</vt:lpstr>
      <vt:lpstr>Proposed Methodology (Overview)</vt:lpstr>
      <vt:lpstr>Proposed Methodology CNN Architecture</vt:lpstr>
      <vt:lpstr>PowerPoint Presentation</vt:lpstr>
      <vt:lpstr>Data Pre-processing Steps</vt:lpstr>
      <vt:lpstr>Evaluation Metrics</vt:lpstr>
      <vt:lpstr>Experimental Results - Age Prediction</vt:lpstr>
      <vt:lpstr>Experimental Results - Gender Prediction</vt:lpstr>
      <vt:lpstr>Experimental Results - Emotion Detection</vt:lpstr>
      <vt:lpstr>Real-time Prediction Module</vt:lpstr>
      <vt:lpstr>Conclusion 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Age, Gender, and Emotion Detection using Deep Learning</dc:title>
  <dc:creator>P Venkata Sri nag</dc:creator>
  <cp:lastModifiedBy>P Venkata Sri nag</cp:lastModifiedBy>
  <cp:revision>524</cp:revision>
  <dcterms:created xsi:type="dcterms:W3CDTF">2025-12-03T10:22:41Z</dcterms:created>
  <dcterms:modified xsi:type="dcterms:W3CDTF">2025-12-30T14:15:25Z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